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CA835"/>
                </a:solidFill>
                <a:latin typeface="Arial"/>
              </a:defRPr>
            </a:pPr>
            <a:r>
              <a:t>THE DRAKKAR ASCENT CHALLENGE</a:t>
            </a:r>
          </a:p>
          <a:p>
            <a:pPr>
              <a:spcAft>
                <a:spcPts val="2800"/>
              </a:spcAft>
              <a:defRPr sz="2000">
                <a:solidFill>
                  <a:srgbClr val="F5F8FA"/>
                </a:solidFill>
                <a:latin typeface="Arial"/>
              </a:defRPr>
            </a:pPr>
            <a:r>
              <a:t>Design Review Board — Structural Optimization of Booster Thrust Barrel</a:t>
            </a:r>
          </a:p>
          <a:p>
            <a:pPr>
              <a:spcAft>
                <a:spcPts val="2000"/>
              </a:spcAft>
              <a:defRPr sz="1400">
                <a:solidFill>
                  <a:srgbClr val="B4C3D2"/>
                </a:solidFill>
                <a:latin typeface="Arial"/>
              </a:defRPr>
            </a:pPr>
            <a:r>
              <a:t>Cadre: Lockheed Martian  |  Course: Aircraft Structures (R5ME3203T)  |  VJTI Mumbai</a:t>
            </a:r>
          </a:p>
          <a:p>
            <a:pPr>
              <a:defRPr sz="1300">
                <a:solidFill>
                  <a:srgbClr val="F5F8FA"/>
                </a:solidFill>
                <a:latin typeface="Arial"/>
              </a:defRPr>
            </a:pPr>
            <a:r>
              <a:t>Engineering Cadre Members:</a:t>
            </a:r>
            <a:br/>
            <a:r>
              <a:t>• Aryan Vyapari (241030078)        • Ashutosh Yadav (241030079)</a:t>
            </a:r>
            <a:br/>
            <a:r>
              <a:t>• Rishiraj Rajgore (241030067)    • Archit More (241030057)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CA835"/>
                </a:solidFill>
                <a:latin typeface="Arial"/>
              </a:defRPr>
            </a:pPr>
            <a:r>
              <a:t>THE DRAKKAR ASCENT CHALLENGE | HOUSE VERIDIAN</a:t>
            </a:r>
          </a:p>
          <a:p>
            <a:pPr>
              <a:defRPr sz="2400" b="1">
                <a:solidFill>
                  <a:srgbClr val="F5F8FA"/>
                </a:solidFill>
                <a:latin typeface="Arial"/>
              </a:defRPr>
            </a:pPr>
            <a:r>
              <a:t>Mission Envelope &amp; Applied Flight 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Ascent Flight Condition: </a:t>
            </a:r>
            <a:r>
              <a:rPr b="0">
                <a:solidFill>
                  <a:srgbClr val="F5F8FA"/>
                </a:solidFill>
              </a:rPr>
              <a:t>Max dynamic pressure q = 24.5 kPa at V_inf = 200 m/s with severe 20 m/s vertical desert thermal gust.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Team Adopted Design Factor: </a:t>
            </a:r>
            <a:r>
              <a:rPr b="0">
                <a:solidFill>
                  <a:srgbClr val="F5F8FA"/>
                </a:solidFill>
              </a:rPr>
              <a:t>LF = 1.1 applied once directly to all primary flight forces and pressure before second-order analysis.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Axial Engine Compression: </a:t>
            </a:r>
            <a:r>
              <a:rPr b="0">
                <a:solidFill>
                  <a:srgbClr val="F5F8FA"/>
                </a:solidFill>
              </a:rPr>
              <a:t>F = 30.0 kN service  --&gt;  33.0 kN design thrust transmitted axially through the cylindrical shell.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Propellant Tank Ullage Pressure: </a:t>
            </a:r>
            <a:r>
              <a:rPr b="0">
                <a:solidFill>
                  <a:srgbClr val="F5F8FA"/>
                </a:solidFill>
              </a:rPr>
              <a:t>p = 0.30 MPa service  --&gt;  0.33 MPa design wall pressure (no beneficial pressure stabilization credited in buckling).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Aerodynamic Gust Side Loads: </a:t>
            </a:r>
            <a:r>
              <a:rPr b="0">
                <a:solidFill>
                  <a:srgbClr val="F5F8FA"/>
                </a:solidFill>
              </a:rPr>
              <a:t>Shear V = 1,465.1 N  --&gt;  1,611.6 N design; First-order Bending M_0 = 2,197.7 N.m  --&gt;  2,417.5 N.m design.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Beam-Column Amplified Moment: </a:t>
            </a:r>
            <a:r>
              <a:rPr b="0">
                <a:solidFill>
                  <a:srgbClr val="F5F8FA"/>
                </a:solidFill>
              </a:rPr>
              <a:t>P-delta moment magnification: M_design = 3,027.9 N.m (amplification factor = 1.252).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CA835"/>
                </a:solidFill>
                <a:latin typeface="Arial"/>
              </a:defRPr>
            </a:pPr>
            <a:r>
              <a:t>THE DRAKKAR ASCENT CHALLENGE | HOUSE VERIDIAN</a:t>
            </a:r>
          </a:p>
          <a:p>
            <a:pPr>
              <a:defRPr sz="2400" b="1">
                <a:solidFill>
                  <a:srgbClr val="F5F8FA"/>
                </a:solidFill>
                <a:latin typeface="Arial"/>
              </a:defRPr>
            </a:pPr>
            <a:r>
              <a:t>Theoretical Analysis Architecture (No FEA)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Exact Annular Geometry: </a:t>
            </a:r>
            <a:r>
              <a:rPr b="0">
                <a:solidFill>
                  <a:srgbClr val="F5F8FA"/>
                </a:solidFill>
              </a:rPr>
              <a:t>Exact midsurface radius r = (D - t)/2, area A = pi*(ro^2 - ri^2), and moment of inertia I = (pi/4)*(ro^4 - ri^4).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Second-Order Beam-Column Secant: </a:t>
            </a:r>
            <a:r>
              <a:rPr b="0">
                <a:solidFill>
                  <a:srgbClr val="F5F8FA"/>
                </a:solidFill>
              </a:rPr>
              <a:t>Exact pinned beam-column solution M_design = M_0 / cos[(L/2)*sqrt(P/EI)] eliminates heuristic P_eq approximations.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Co-Located Stress Envelope: </a:t>
            </a:r>
            <a:r>
              <a:rPr b="0">
                <a:solidFill>
                  <a:srgbClr val="F5F8FA"/>
                </a:solidFill>
              </a:rPr>
              <a:t>Evaluates signed axial compression, outer-fiber bending, hoop tension, and shear at identical circumferential positions (theta = 180 deg governs).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NASA SP-8007 Shell Buckling: </a:t>
            </a:r>
            <a:r>
              <a:rPr b="0">
                <a:solidFill>
                  <a:srgbClr val="F5F8FA"/>
                </a:solidFill>
              </a:rPr>
              <a:t>Empirical curvature knockdowns gx and gb as continuous functions of sqrt(r/t)/16 (gx = 0.651, gb = 0.717).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Combined Stability Interaction: </a:t>
            </a:r>
            <a:r>
              <a:rPr b="0">
                <a:solidFill>
                  <a:srgbClr val="F5F8FA"/>
                </a:solidFill>
              </a:rPr>
              <a:t>Tri-axial interaction criterion: (sigma_axial/sx_cr) + (sigma_bending/sb_cr) + (tau/tau_cr) &lt;= 1.0.</a:t>
            </a:r>
          </a:p>
          <a:p>
            <a:pPr>
              <a:spcAft>
                <a:spcPts val="1200"/>
              </a:spcAft>
              <a:defRPr b="1" sz="1400">
                <a:solidFill>
                  <a:srgbClr val="DCA835"/>
                </a:solidFill>
              </a:defRPr>
            </a:pPr>
            <a:r>
              <a:t>•  Brazier Ovalization Diagnostic: </a:t>
            </a:r>
            <a:r>
              <a:rPr b="0">
                <a:solidFill>
                  <a:srgbClr val="F5F8FA"/>
                </a:solidFill>
              </a:rPr>
              <a:t>Classical elastic tube flattening capacity M_Brazier = 0.987*E*r*t^2/sqrt(1 - nu^2) evaluated at midspan.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CA835"/>
                </a:solidFill>
                <a:latin typeface="Arial"/>
              </a:defRPr>
            </a:pPr>
            <a:r>
              <a:t>THE DRAKKAR ASCENT CHALLENGE | HOUSE VERIDIAN</a:t>
            </a:r>
          </a:p>
          <a:p>
            <a:pPr>
              <a:defRPr sz="2400" b="1">
                <a:solidFill>
                  <a:srgbClr val="F5F8FA"/>
                </a:solidFill>
                <a:latin typeface="Arial"/>
              </a:defRPr>
            </a:pPr>
            <a:r>
              <a:t>Parametric Material Trade Study (LF = 1.1)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A"/>
                          </a:solidFill>
                        </a:defRPr>
                      </a:pPr>
                      <a:r>
                        <a:t>Material</a:t>
                      </a:r>
                    </a:p>
                  </a:txBody>
                  <a:tcPr>
                    <a:solidFill>
                      <a:srgbClr val="2671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A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2671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A"/>
                          </a:solidFill>
                        </a:defRPr>
                      </a:pPr>
                      <a:r>
                        <a:t>Optimum OD</a:t>
                      </a:r>
                    </a:p>
                  </a:txBody>
                  <a:tcPr>
                    <a:solidFill>
                      <a:srgbClr val="2671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A"/>
                          </a:solidFill>
                        </a:defRPr>
                      </a:pPr>
                      <a:r>
                        <a:t>Wall (t)</a:t>
                      </a:r>
                    </a:p>
                  </a:txBody>
                  <a:tcPr>
                    <a:solidFill>
                      <a:srgbClr val="2671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A"/>
                          </a:solidFill>
                        </a:defRPr>
                      </a:pPr>
                      <a:r>
                        <a:t>Shell Mass</a:t>
                      </a:r>
                    </a:p>
                  </a:txBody>
                  <a:tcPr>
                    <a:solidFill>
                      <a:srgbClr val="2671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A"/>
                          </a:solidFill>
                        </a:defRPr>
                      </a:pPr>
                      <a:r>
                        <a:t>Status / Selection</a:t>
                      </a:r>
                    </a:p>
                  </a:txBody>
                  <a:tcPr>
                    <a:solidFill>
                      <a:srgbClr val="2671B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A835"/>
                          </a:solidFill>
                        </a:defRPr>
                      </a:pPr>
                      <a:r>
                        <a:t>Aluminium 7075-T6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Metal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119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0.96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1.501 kg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A835"/>
                          </a:solidFill>
                        </a:defRPr>
                      </a:pPr>
                      <a:r>
                        <a:t>PRIMARY SELECTED WINNER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Magnesium AZ31B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Metal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169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1.10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1.540 kg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Heavier (+2.6%, yield cap)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Titanium Ti-6Al-4V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Metal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96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0.84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1.669 kg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Dense (+11.2%)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Steel 4130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Metal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154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0.58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3.292 kg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Heavy (+119.3%)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Carbon/Epoxy QI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101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1.20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0.903 kg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Theoretical min (unvalidated)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Aramid/Epoxy QI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169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1.23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1.361 kg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Laminate unvalidated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Glass/Epoxy QI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125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1.60 mm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1.768 kg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8FA"/>
                          </a:solidFill>
                        </a:defRPr>
                      </a:pPr>
                      <a:r>
                        <a:t>Laminate unvalidated</a:t>
                      </a:r>
                    </a:p>
                  </a:txBody>
                  <a:tcPr>
                    <a:solidFill>
                      <a:srgbClr val="18263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CA835"/>
                </a:solidFill>
              </a:defRPr>
            </a:pPr>
            <a:r>
              <a:t>Why Aluminium 7075-T6 Wins Over Magnesium and Composites:</a:t>
            </a:r>
          </a:p>
          <a:p>
            <a:pPr>
              <a:defRPr sz="1200">
                <a:solidFill>
                  <a:srgbClr val="F5F8FA"/>
                </a:solidFill>
              </a:defRPr>
            </a:pPr>
            <a:r>
              <a:t>1. High stiffness (71.7 GPa) and yield strength (503 MPa) prevent early buckling limits, beating Magnesium AZ31B (1.540 kg) by 2.6%.</a:t>
            </a:r>
            <a:br/>
            <a:r>
              <a:t>2. Carbon/Epoxy QI is theoretically lighter (0.903 kg), but the brief lacks laminate ply schedules, curing specifications, and delamination knockdowns required for certified aerospace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CA835"/>
                </a:solidFill>
                <a:latin typeface="Arial"/>
              </a:defRPr>
            </a:pPr>
            <a:r>
              <a:t>THE DRAKKAR ASCENT CHALLENGE | HOUSE VERIDIAN</a:t>
            </a:r>
          </a:p>
          <a:p>
            <a:pPr>
              <a:defRPr sz="2400" b="1">
                <a:solidFill>
                  <a:srgbClr val="F5F8FA"/>
                </a:solidFill>
                <a:latin typeface="Arial"/>
              </a:defRPr>
            </a:pPr>
            <a:r>
              <a:t>Final Architecture: Aluminium 7075-T6 Thrust Barrel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300">
                <a:solidFill>
                  <a:srgbClr val="DCA835"/>
                </a:solidFill>
              </a:defRPr>
            </a:pPr>
            <a:r>
              <a:t>•  Physical Dimensions: </a:t>
            </a:r>
            <a:r>
              <a:rPr b="0">
                <a:solidFill>
                  <a:srgbClr val="F5F8FA"/>
                </a:solidFill>
              </a:rPr>
              <a:t>Outside Diameter = 119 mm  |  Nominal Wall = 0.96 mm  |  Length = 1500 mm  |  Mean Radius r = 59.02 mm.</a:t>
            </a:r>
          </a:p>
          <a:p>
            <a:pPr>
              <a:spcAft>
                <a:spcPts val="1000"/>
              </a:spcAft>
              <a:defRPr b="1" sz="1300">
                <a:solidFill>
                  <a:srgbClr val="DCA835"/>
                </a:solidFill>
              </a:defRPr>
            </a:pPr>
            <a:r>
              <a:t>•  Component Mass: </a:t>
            </a:r>
            <a:r>
              <a:rPr b="0">
                <a:solidFill>
                  <a:srgbClr val="F5F8FA"/>
                </a:solidFill>
              </a:rPr>
              <a:t>Shell Mass = 1.500541 kg (~1.501 kg). Valid thin-walled cylinder: r/t = 61.5, L/r = 25.4.</a:t>
            </a:r>
          </a:p>
          <a:p>
            <a:pPr>
              <a:spcAft>
                <a:spcPts val="1000"/>
              </a:spcAft>
              <a:defRPr b="1" sz="1300">
                <a:solidFill>
                  <a:srgbClr val="DCA835"/>
                </a:solidFill>
              </a:defRPr>
            </a:pPr>
            <a:r>
              <a:t>•  Local Shell Buckling (GOVERNS): </a:t>
            </a:r>
            <a:r>
              <a:rPr b="0">
                <a:solidFill>
                  <a:srgbClr val="F5F8FA"/>
                </a:solidFill>
              </a:rPr>
              <a:t>Interaction Utilisation U = 0.9962  (Margin of Safety = +0.38%). Directly sizes nominal wall thickness.</a:t>
            </a:r>
          </a:p>
          <a:p>
            <a:pPr>
              <a:spcAft>
                <a:spcPts val="1000"/>
              </a:spcAft>
              <a:defRPr b="1" sz="1300">
                <a:solidFill>
                  <a:srgbClr val="DCA835"/>
                </a:solidFill>
              </a:defRPr>
            </a:pPr>
            <a:r>
              <a:t>•  Material Yielding Check: </a:t>
            </a:r>
            <a:r>
              <a:rPr b="0">
                <a:solidFill>
                  <a:srgbClr val="F5F8FA"/>
                </a:solidFill>
              </a:rPr>
              <a:t>Peak von Mises Stress = 393.9 MPa  &lt;=  503.0 MPa allowable. Utilisation U = 0.7830  (Margin of Safety = +27.7%).</a:t>
            </a:r>
          </a:p>
          <a:p>
            <a:pPr>
              <a:spcAft>
                <a:spcPts val="1000"/>
              </a:spcAft>
              <a:defRPr b="1" sz="1300">
                <a:solidFill>
                  <a:srgbClr val="DCA835"/>
                </a:solidFill>
              </a:defRPr>
            </a:pPr>
            <a:r>
              <a:t>•  Global Column Euler Buckling: </a:t>
            </a:r>
            <a:r>
              <a:rPr b="0">
                <a:solidFill>
                  <a:srgbClr val="F5F8FA"/>
                </a:solidFill>
              </a:rPr>
              <a:t>Critical Euler Thrust P_cr = 195.0 kN  &gt;&gt;  33.0 kN design load. Utilisation U = 0.1692  (Margin of Safety = +491%).</a:t>
            </a:r>
          </a:p>
          <a:p>
            <a:pPr>
              <a:spcAft>
                <a:spcPts val="1000"/>
              </a:spcAft>
              <a:defRPr b="1" sz="1300">
                <a:solidFill>
                  <a:srgbClr val="DCA835"/>
                </a:solidFill>
              </a:defRPr>
            </a:pPr>
            <a:r>
              <a:t>•  Cross-Section Ovalization: </a:t>
            </a:r>
            <a:r>
              <a:rPr b="0">
                <a:solidFill>
                  <a:srgbClr val="F5F8FA"/>
                </a:solidFill>
              </a:rPr>
              <a:t>Max Bending Moment = 3,027.9 N.m  &lt;  M_Brazier = 4,077.7 N.m. Utilisation U = 0.7425  (Margin of Safety = +34.7%).</a:t>
            </a:r>
          </a:p>
          <a:p>
            <a:pPr>
              <a:spcAft>
                <a:spcPts val="1000"/>
              </a:spcAft>
              <a:defRPr b="1" sz="1300">
                <a:solidFill>
                  <a:srgbClr val="DCA835"/>
                </a:solidFill>
              </a:defRPr>
            </a:pPr>
            <a:r>
              <a:t>•  Separate Transfer Load Case: </a:t>
            </a:r>
            <a:r>
              <a:rPr b="0">
                <a:solidFill>
                  <a:srgbClr val="F5F8FA"/>
                </a:solidFill>
              </a:rPr>
              <a:t>Carrying shear across length (M + V*L = 4,835 N.m) yields OD = 137 mm, t = 1.10 mm, Mass = 1.980 kg.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CA835"/>
                </a:solidFill>
                <a:latin typeface="Arial"/>
              </a:defRPr>
            </a:pPr>
            <a:r>
              <a:t>THE DRAKKAR ASCENT CHALLENGE | HOUSE VERIDIAN</a:t>
            </a:r>
          </a:p>
          <a:p>
            <a:pPr>
              <a:defRPr sz="2400" b="1">
                <a:solidFill>
                  <a:srgbClr val="F5F8FA"/>
                </a:solidFill>
                <a:latin typeface="Arial"/>
              </a:defRPr>
            </a:pPr>
            <a:r>
              <a:t>Independent Verification &amp; Compliance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300">
                <a:solidFill>
                  <a:srgbClr val="DCA835"/>
                </a:solidFill>
              </a:defRPr>
            </a:pPr>
            <a:r>
              <a:t>•  100% Automated Test Suite Passing: </a:t>
            </a:r>
            <a:r>
              <a:rPr b="0">
                <a:solidFill>
                  <a:srgbClr val="F5F8FA"/>
                </a:solidFill>
              </a:rPr>
              <a:t>All 16 unit tests in tests/test_analysis.py pass in 0.02s, validating flight load derivations, known annular formulas, and trade studies.</a:t>
            </a:r>
          </a:p>
          <a:p>
            <a:pPr>
              <a:spcAft>
                <a:spcPts val="1200"/>
              </a:spcAft>
              <a:defRPr b="1" sz="1300">
                <a:solidFill>
                  <a:srgbClr val="DCA835"/>
                </a:solidFill>
              </a:defRPr>
            </a:pPr>
            <a:r>
              <a:t>•  Independent Closed-Form Arithmetic: </a:t>
            </a:r>
            <a:r>
              <a:rPr b="0">
                <a:solidFill>
                  <a:srgbClr val="F5F8FA"/>
                </a:solidFill>
              </a:rPr>
              <a:t>Full N/mm/MPa recalculation reproduces 14 finalist designs and 35 load scenarios with relative moment error &lt; 1.56e-11.</a:t>
            </a:r>
          </a:p>
          <a:p>
            <a:pPr>
              <a:spcAft>
                <a:spcPts val="1200"/>
              </a:spcAft>
              <a:defRPr b="1" sz="1300">
                <a:solidFill>
                  <a:srgbClr val="DCA835"/>
                </a:solidFill>
              </a:defRPr>
            </a:pPr>
            <a:r>
              <a:t>•  Dense Circumferential Scan: </a:t>
            </a:r>
            <a:r>
              <a:rPr b="0">
                <a:solidFill>
                  <a:srgbClr val="F5F8FA"/>
                </a:solidFill>
              </a:rPr>
              <a:t>Co-located multi-axial stresses independently verified across 7,200 angular increments around cylinder perimeter.</a:t>
            </a:r>
          </a:p>
          <a:p>
            <a:pPr>
              <a:spcAft>
                <a:spcPts val="1200"/>
              </a:spcAft>
              <a:defRPr b="1" sz="1300">
                <a:solidFill>
                  <a:srgbClr val="DCA835"/>
                </a:solidFill>
              </a:defRPr>
            </a:pPr>
            <a:r>
              <a:t>•  Academic Limitations Honestly Declared: </a:t>
            </a:r>
            <a:r>
              <a:rPr b="0">
                <a:solidFill>
                  <a:srgbClr val="F5F8FA"/>
                </a:solidFill>
              </a:rPr>
              <a:t>NASA axial knockdown extrapolated for L/r = 25.4 &gt; 5; end ring fitting mass separated from shell mass boundary.</a:t>
            </a:r>
          </a:p>
          <a:p>
            <a:pPr>
              <a:spcAft>
                <a:spcPts val="1200"/>
              </a:spcAft>
              <a:defRPr b="1" sz="1300">
                <a:solidFill>
                  <a:srgbClr val="DCA835"/>
                </a:solidFill>
              </a:defRPr>
            </a:pPr>
            <a:r>
              <a:t>•  Submission Deliverables Ready: </a:t>
            </a:r>
            <a:r>
              <a:rPr b="0">
                <a:solidFill>
                  <a:srgbClr val="F5F8FA"/>
                </a:solidFill>
              </a:rPr>
              <a:t>1. Final Design Report (PDF)  |  2. Python Code &amp; Tests  |  3. 2D CAD Engineering Drawing  |  4. Presentation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